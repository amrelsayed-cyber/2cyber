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</ns0:sldIdLst>
  <ns0:sldSz cx="12192000" cy="6858000" type="screen4x3"/>
  <ns0:notesSz cx="6858000" cy="9144000"/>
  <ns0:embeddedFontLst>
    <ns0:embeddedFont>
      <ns0:font typeface="Inter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Font22" Type="http://schemas.openxmlformats.org/officeDocument/2006/relationships/font" Target="fonts/dcdc5e63-9d21-4821-9e4c-9eec400f14c7.fntdata" /><ns0:Relationship Id="rIdFont23" Type="http://schemas.openxmlformats.org/officeDocument/2006/relationships/font" Target="fonts/341ddeed-159c-4494-bff1-a9cccde3f6e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52616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93590"/>
            <a:ext cx="238125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2788890"/>
            <a:ext cx="11430000" cy="613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8FAFC"/>
                </a:solidFill>
                <a:latin typeface="Inter"/>
              </a:rPr>
              <a:t>Introduction to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592710"/>
            <a:ext cx="73342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Data Hierarchy, File System Limitations, DBMS Architecture, and Table 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425" y="2312640"/>
            <a:ext cx="288726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Inter"/>
              </a:rPr>
              <a:t>Computer Science 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05112"/>
            <a:ext cx="2600325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724150"/>
            <a:ext cx="2600325" cy="24003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724150"/>
            <a:ext cx="2600325" cy="24003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724150"/>
            <a:ext cx="2600325" cy="24003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825" y="4414837"/>
            <a:ext cx="2047875" cy="352425"/>
          </a:xfrm>
          <a:prstGeom prst="roundRect">
            <a:avLst>
              <a:gd name="adj" fmla="val 2162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76650" y="4333875"/>
            <a:ext cx="2047875" cy="514350"/>
          </a:xfrm>
          <a:prstGeom prst="roundRect">
            <a:avLst>
              <a:gd name="adj" fmla="val 14814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67475" y="4333875"/>
            <a:ext cx="2047875" cy="514350"/>
          </a:xfrm>
          <a:prstGeom prst="roundRect">
            <a:avLst>
              <a:gd name="adj" fmla="val 14814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58300" y="4333875"/>
            <a:ext cx="2047875" cy="514350"/>
          </a:xfrm>
          <a:prstGeom prst="roundRect">
            <a:avLst>
              <a:gd name="adj" fmla="val 14814"/>
            </a:avLst>
          </a:prstGeom>
          <a:solidFill>
            <a:srgbClr val="F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81337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650" y="3000375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475" y="3000375"/>
            <a:ext cx="3810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0" y="3000375"/>
            <a:ext cx="3810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075" y="3176587"/>
            <a:ext cx="19050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7612" y="3095625"/>
            <a:ext cx="21907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3095625"/>
            <a:ext cx="19050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7362" y="3095625"/>
            <a:ext cx="142875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5334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DATA EVOLUTION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8001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The DIKW Continuum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3576637"/>
            <a:ext cx="268783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3919537"/>
            <a:ext cx="21431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Unprocessed raw facts and figures without context.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175" y="4510087"/>
            <a:ext cx="18764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Ages: 18, 20, 22, 19, 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6650" y="3495675"/>
            <a:ext cx="268783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Information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6650" y="3838575"/>
            <a:ext cx="21431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Structured and summarized data with context.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00" y="4429125"/>
            <a:ext cx="18764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5803D"/>
                </a:solidFill>
                <a:latin typeface="Inter"/>
              </a:rPr>
              <a:t>Average student age = 20 years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7475" y="3495675"/>
            <a:ext cx="268783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Knowledge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7475" y="3838575"/>
            <a:ext cx="21431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Understanding patterns and synthesized meaning.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0825" y="4429125"/>
            <a:ext cx="18764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B45309"/>
                </a:solidFill>
                <a:latin typeface="Inter"/>
              </a:rPr>
              <a:t>Students are young adults in college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8300" y="3495675"/>
            <a:ext cx="268783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Wisdom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8300" y="3838575"/>
            <a:ext cx="21431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Applying insights for actionable decisions.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91650" y="4429125"/>
            <a:ext cx="18764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E22CE"/>
                </a:solidFill>
                <a:latin typeface="Inter"/>
              </a:rPr>
              <a:t>Design tailored youth curriculum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05150"/>
            <a:ext cx="2042219" cy="1638300"/>
          </a:xfrm>
          <a:prstGeom prst="roundRect">
            <a:avLst>
              <a:gd name="adj" fmla="val 69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42319" y="3105150"/>
            <a:ext cx="2042219" cy="1638300"/>
          </a:xfrm>
          <a:prstGeom prst="roundRect">
            <a:avLst>
              <a:gd name="adj" fmla="val 69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75039" y="3105150"/>
            <a:ext cx="2042219" cy="1638300"/>
          </a:xfrm>
          <a:prstGeom prst="roundRect">
            <a:avLst>
              <a:gd name="adj" fmla="val 69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07758" y="3105150"/>
            <a:ext cx="2042219" cy="1638300"/>
          </a:xfrm>
          <a:prstGeom prst="roundRect">
            <a:avLst>
              <a:gd name="adj" fmla="val 69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40478" y="3195637"/>
            <a:ext cx="2042219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343275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444" y="3343275"/>
            <a:ext cx="1714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164" y="3343275"/>
            <a:ext cx="2857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5883" y="3343275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8603" y="3433762"/>
            <a:ext cx="25717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DATA TAXONOMY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8001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Major Categories of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686175"/>
            <a:ext cx="20553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Structured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962400"/>
            <a:ext cx="1661219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Tabular schema with explicit rows and columns.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0444" y="3686175"/>
            <a:ext cx="20553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Unstructured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0444" y="3962400"/>
            <a:ext cx="1661219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Freeform media like video, audio, and images.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3164" y="3686175"/>
            <a:ext cx="20553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Semi-Structured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3164" y="3962400"/>
            <a:ext cx="1661219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Self-describing formats like JSON and XML.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5883" y="3686175"/>
            <a:ext cx="20553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Metadata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5883" y="3962400"/>
            <a:ext cx="1661219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Descriptive data defining file properties.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8603" y="3776662"/>
            <a:ext cx="20553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Spatial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8603" y="4052887"/>
            <a:ext cx="166121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Geographic GPS coordinates and maps.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24000"/>
            <a:ext cx="10972800" cy="1120080"/>
          </a:xfrm>
          <a:prstGeom prst="roundRect">
            <a:avLst>
              <a:gd name="adj" fmla="val 10204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524000"/>
            <a:ext cx="57150" cy="112008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865215"/>
            <a:ext cx="3505200" cy="158115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3865215"/>
            <a:ext cx="3505200" cy="158115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200" y="3865215"/>
            <a:ext cx="3505200" cy="158115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4141440"/>
            <a:ext cx="25717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4141440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414144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CORE 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8001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What is a Database?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1790700"/>
            <a:ext cx="1040130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1" sz="1650" i="0" u="none">
                <a:solidFill>
                  <a:srgbClr val="0369A1"/>
                </a:solidFill>
                <a:latin typeface="Inter"/>
              </a:rPr>
              <a:t>An organized collection of structured data stored electronically for high-speed retrieval, management, and continuous updates.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484340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Tabular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78914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Organized into rows and columns for logical consistency.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4484340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Rapid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478914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Instant indexing for complex searches on massive datasets.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4484340"/>
            <a:ext cx="3838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Controlled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478914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Multi-user permissions preventing unauthorized edits.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57475"/>
            <a:ext cx="5372100" cy="2533650"/>
          </a:xfrm>
          <a:prstGeom prst="roundRect">
            <a:avLst>
              <a:gd name="adj" fmla="val 601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657475"/>
            <a:ext cx="5372100" cy="2533650"/>
          </a:xfrm>
          <a:prstGeom prst="roundRect">
            <a:avLst>
              <a:gd name="adj" fmla="val 6015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657475"/>
            <a:ext cx="53721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0300" y="2657475"/>
            <a:ext cx="53721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09900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3009900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SYSTEM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001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File Systems vs. DBMS (Part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5875" y="3000375"/>
            <a:ext cx="206275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Old File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000375"/>
            <a:ext cx="342542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Database System (DBMS)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38525"/>
            <a:ext cx="5953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91B1B"/>
                </a:solidFill>
                <a:latin typeface="Inter"/>
              </a:rPr>
              <a:t>High Redundancy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38550"/>
            <a:ext cx="5953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7F1D1D"/>
                </a:solidFill>
                <a:latin typeface="Inter"/>
              </a:rPr>
              <a:t>Duplicated data across files wastes storage.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71925"/>
            <a:ext cx="5953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91B1B"/>
                </a:solidFill>
                <a:latin typeface="Inter"/>
              </a:rPr>
              <a:t>Data Inconsistency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71950"/>
            <a:ext cx="5953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7F1D1D"/>
                </a:solidFill>
                <a:latin typeface="Inter"/>
              </a:rPr>
              <a:t>Isolated edits leave conflicting file versions.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05325"/>
            <a:ext cx="5953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91B1B"/>
                </a:solidFill>
                <a:latin typeface="Inter"/>
              </a:rPr>
              <a:t>Isolated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05350"/>
            <a:ext cx="5953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7F1D1D"/>
                </a:solidFill>
                <a:latin typeface="Inter"/>
              </a:rPr>
              <a:t>Data locked into single-user applications.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0" y="3438525"/>
            <a:ext cx="56769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65F46"/>
                </a:solidFill>
                <a:latin typeface="Inter"/>
              </a:rPr>
              <a:t>Single Storage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3638550"/>
            <a:ext cx="56769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47857"/>
                </a:solidFill>
                <a:latin typeface="Inter"/>
              </a:rPr>
              <a:t>Centralized records save space.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100" y="3971925"/>
            <a:ext cx="56769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65F46"/>
                </a:solidFill>
                <a:latin typeface="Inter"/>
              </a:rPr>
              <a:t>Automatic Consistency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100" y="4171950"/>
            <a:ext cx="56769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47857"/>
                </a:solidFill>
                <a:latin typeface="Inter"/>
              </a:rPr>
              <a:t>One update immediately propagates to all users.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4505325"/>
            <a:ext cx="56769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65F46"/>
                </a:solidFill>
                <a:latin typeface="Inter"/>
              </a:rPr>
              <a:t>Shared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5100" y="4705350"/>
            <a:ext cx="56769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47857"/>
                </a:solidFill>
                <a:latin typeface="Inter"/>
              </a:rPr>
              <a:t>Multiple systems query the same database safely.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67050"/>
            <a:ext cx="2600325" cy="17145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067050"/>
            <a:ext cx="2600325" cy="17145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157537"/>
            <a:ext cx="2600325" cy="1533525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157537"/>
            <a:ext cx="2600325" cy="1533525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43275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650" y="3343275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475" y="3433762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0" y="3433762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ADVANCED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8001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File Systems vs. DBMS (Part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686175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Concurrency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962400"/>
            <a:ext cx="214312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Handles simultaneous multi-user edits without data corruption.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6650" y="3686175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Fast Querying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6650" y="3962400"/>
            <a:ext cx="214312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Replaces manual scanning with lightning-fast SQL queries.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7475" y="3776662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Automated Recovery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475" y="4052887"/>
            <a:ext cx="21431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Automated backups and crash recovery protocols.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8300" y="3776662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High Scalability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8300" y="4052887"/>
            <a:ext cx="21431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Seamlessly scales from megabytes to petabytes.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81312"/>
            <a:ext cx="5334000" cy="2085975"/>
          </a:xfrm>
          <a:prstGeom prst="roundRect">
            <a:avLst>
              <a:gd name="adj" fmla="val 73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81312"/>
            <a:ext cx="5334000" cy="2085975"/>
          </a:xfrm>
          <a:prstGeom prst="roundRect">
            <a:avLst>
              <a:gd name="adj" fmla="val 73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4243387"/>
            <a:ext cx="4705350" cy="409575"/>
          </a:xfrm>
          <a:prstGeom prst="roundRect">
            <a:avLst>
              <a:gd name="adj" fmla="val 18604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62725" y="4243387"/>
            <a:ext cx="4705350" cy="409575"/>
          </a:xfrm>
          <a:prstGeom prst="roundRect">
            <a:avLst>
              <a:gd name="adj" fmla="val 18604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05162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205162"/>
            <a:ext cx="25717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INTERACTION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001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The Role of DBMS and 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595687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Acts as the intermediate manager between applications and physical storage (similar to a compiler).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4357687"/>
            <a:ext cx="44958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369A1"/>
                </a:solidFill>
                <a:latin typeface="Inter"/>
              </a:rPr>
              <a:t>Examples: MySQL, Oracle, SQL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595687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Structured Query Language used to declare operations on databases.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4357687"/>
            <a:ext cx="44958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2400E"/>
                </a:solidFill>
                <a:latin typeface="Inter"/>
              </a:rPr>
              <a:t>Note: SQL is a query language; PL/SQL adds procedural code.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6825" y="3195637"/>
            <a:ext cx="308788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DBMS Software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4200" y="3195637"/>
            <a:ext cx="193774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SQL Language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43250"/>
            <a:ext cx="2600325" cy="15621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143250"/>
            <a:ext cx="2600325" cy="15621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143250"/>
            <a:ext cx="2600325" cy="15621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143250"/>
            <a:ext cx="2600325" cy="15621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419475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650" y="3419475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475" y="3419475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0" y="3419475"/>
            <a:ext cx="20002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COMMAND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8001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Core SQL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762375"/>
            <a:ext cx="268783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SELECT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067175"/>
            <a:ext cx="21431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Retrieves specific rows and columns from tables.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6650" y="3762375"/>
            <a:ext cx="268783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INSERT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6650" y="4067175"/>
            <a:ext cx="21431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Adds new data tuples into a target table.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7475" y="3762375"/>
            <a:ext cx="268783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UPDATE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475" y="4067175"/>
            <a:ext cx="21431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Modifies existing attribute values in place.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8300" y="3762375"/>
            <a:ext cx="268783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DELETE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8300" y="4067175"/>
            <a:ext cx="21431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Removes obsolete records based on conditions.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33725"/>
            <a:ext cx="3505200" cy="1581150"/>
          </a:xfrm>
          <a:prstGeom prst="roundRect">
            <a:avLst>
              <a:gd name="adj" fmla="val 84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33725"/>
            <a:ext cx="3505200" cy="1581150"/>
          </a:xfrm>
          <a:prstGeom prst="roundRect">
            <a:avLst>
              <a:gd name="adj" fmla="val 84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33725"/>
            <a:ext cx="3505200" cy="1581150"/>
          </a:xfrm>
          <a:prstGeom prst="roundRect">
            <a:avLst>
              <a:gd name="adj" fmla="val 84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409950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409950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409950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RELATIONAL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001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Anatomy of a Relational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752850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Table / Relation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05765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Named two-dimensional grid representing a real-world entity.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752850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Row / Tuple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405765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A single complete record representing one instance.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752850"/>
            <a:ext cx="3838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Column / Attribute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405765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A specific property with a defined data type.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00362"/>
            <a:ext cx="5334000" cy="2047875"/>
          </a:xfrm>
          <a:prstGeom prst="roundRect">
            <a:avLst>
              <a:gd name="adj" fmla="val 74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00362"/>
            <a:ext cx="5334000" cy="2047875"/>
          </a:xfrm>
          <a:prstGeom prst="roundRect">
            <a:avLst>
              <a:gd name="adj" fmla="val 74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4224337"/>
            <a:ext cx="4705350" cy="409575"/>
          </a:xfrm>
          <a:prstGeom prst="roundRect">
            <a:avLst>
              <a:gd name="adj" fmla="val 18604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62725" y="4224337"/>
            <a:ext cx="4705350" cy="409575"/>
          </a:xfrm>
          <a:prstGeom prst="roundRect">
            <a:avLst>
              <a:gd name="adj" fmla="val 18604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24212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224212"/>
            <a:ext cx="2857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INTEGRITY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001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Database Keys: PK vs. FK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614737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Uniquely identifies each record in a table. Cannot contain NULL values.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4338637"/>
            <a:ext cx="45720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2400E"/>
                </a:solidFill>
                <a:latin typeface="Inter"/>
              </a:rPr>
              <a:t>Example: Student_ID (101, 102, 103)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614737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Points to a Primary Key in another table to establish referential integrity.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5" y="4338637"/>
            <a:ext cx="45720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369A1"/>
                </a:solidFill>
                <a:latin typeface="Inter"/>
              </a:rPr>
              <a:t>Example: Department_ID inside Student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6825" y="3214687"/>
            <a:ext cx="226278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Primary Key (PK)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2775" y="3214687"/>
            <a:ext cx="221277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Foreign Key (FK)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33725"/>
            <a:ext cx="3505200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33725"/>
            <a:ext cx="3505200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33725"/>
            <a:ext cx="3505200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409950"/>
            <a:ext cx="25717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409950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409950"/>
            <a:ext cx="20002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MODELING CONNECTIONS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001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Why Table Relationships Matter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752850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Referential Integrity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05765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Prevents orphan records and broken references across systems.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752850"/>
            <a:ext cx="38754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Data Normalization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405765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Splits large multi-topic tables into streamlined entities.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752850"/>
            <a:ext cx="3838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JOIN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405765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Enables combining data across multiple tables via SQL JOINs.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14662"/>
            <a:ext cx="5334000" cy="1819275"/>
          </a:xfrm>
          <a:prstGeom prst="roundRect">
            <a:avLst>
              <a:gd name="adj" fmla="val 83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00362"/>
            <a:ext cx="5334000" cy="2047875"/>
          </a:xfrm>
          <a:prstGeom prst="roundRect">
            <a:avLst>
              <a:gd name="adj" fmla="val 74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4110037"/>
            <a:ext cx="4705350" cy="409575"/>
          </a:xfrm>
          <a:prstGeom prst="roundRect">
            <a:avLst>
              <a:gd name="adj" fmla="val 1860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62725" y="4224337"/>
            <a:ext cx="4705350" cy="409575"/>
          </a:xfrm>
          <a:prstGeom prst="roundRect">
            <a:avLst>
              <a:gd name="adj" fmla="val 18604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38512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224212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RELATIONSHIP DYNAMICS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001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One-to-One &amp; One-to-Many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729037"/>
            <a:ext cx="58816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Each row in Table A links to exactly one row in Table 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4224337"/>
            <a:ext cx="45720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Example: User ↔ Passport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614737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One row in Table A links to multiple rows in Table B (Most Common).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5" y="4338637"/>
            <a:ext cx="45720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369A1"/>
                </a:solidFill>
                <a:latin typeface="Inter"/>
              </a:rPr>
              <a:t>Example: Department ↔ Many Students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6825" y="3328987"/>
            <a:ext cx="22002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One-to-One (1:1)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5625" y="3214687"/>
            <a:ext cx="251281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One-to-Many (1:N)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24000"/>
            <a:ext cx="10972800" cy="657225"/>
          </a:xfrm>
          <a:prstGeom prst="roundRect">
            <a:avLst>
              <a:gd name="adj" fmla="val 17391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524000"/>
            <a:ext cx="57150" cy="6572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24300"/>
            <a:ext cx="3263949" cy="962025"/>
          </a:xfrm>
          <a:prstGeom prst="roundRect">
            <a:avLst>
              <a:gd name="adj" fmla="val 118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54574" y="3914775"/>
            <a:ext cx="3282999" cy="981075"/>
          </a:xfrm>
          <a:prstGeom prst="roundRect">
            <a:avLst>
              <a:gd name="adj" fmla="val 11650"/>
            </a:avLst>
          </a:prstGeom>
          <a:solidFill>
            <a:srgbClr val="E0F2FE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18599" y="3924300"/>
            <a:ext cx="3263949" cy="962025"/>
          </a:xfrm>
          <a:prstGeom prst="roundRect">
            <a:avLst>
              <a:gd name="adj" fmla="val 118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49" y="4291012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8074" y="4291012"/>
            <a:ext cx="200025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COMPLEX MODELING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8001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Many-to-Many (N:M)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1752600"/>
            <a:ext cx="11296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45309"/>
                </a:solidFill>
                <a:latin typeface="Inter"/>
              </a:rPr>
              <a:t>Rule: Relational databases cannot directly implement N:M links. They require a Junction Table.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2146" y="4162425"/>
            <a:ext cx="365885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Students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262" y="4467225"/>
            <a:ext cx="348462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Primary Key: Student_ID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6646" y="4162425"/>
            <a:ext cx="365885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369A1"/>
                </a:solidFill>
                <a:latin typeface="Inter"/>
              </a:rPr>
              <a:t>Junction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3762" y="4467225"/>
            <a:ext cx="348462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284C7"/>
                </a:solidFill>
                <a:latin typeface="Inter"/>
              </a:rPr>
              <a:t>Enrollments (PK: ID, FK1, FK2)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1146" y="4162425"/>
            <a:ext cx="365885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Courses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8261" y="4467225"/>
            <a:ext cx="348462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Primary Key: Course_ID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86087"/>
            <a:ext cx="2600325" cy="1876425"/>
          </a:xfrm>
          <a:prstGeom prst="roundRect">
            <a:avLst>
              <a:gd name="adj" fmla="val 81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986087"/>
            <a:ext cx="2600325" cy="1876425"/>
          </a:xfrm>
          <a:prstGeom prst="roundRect">
            <a:avLst>
              <a:gd name="adj" fmla="val 81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076575"/>
            <a:ext cx="2600325" cy="1695450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119437"/>
            <a:ext cx="2600325" cy="1609725"/>
          </a:xfrm>
          <a:prstGeom prst="roundRect">
            <a:avLst>
              <a:gd name="adj" fmla="val 94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412" y="3262312"/>
            <a:ext cx="266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187" y="3262312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012" y="335280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INDUSTRY STANDARDS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8001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Enterprise RDBMS Platforms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844" y="3719512"/>
            <a:ext cx="268783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Oracle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840" y="4043362"/>
            <a:ext cx="2559843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High-performance engine for large enterprise infrastructure.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6669" y="3719512"/>
            <a:ext cx="268783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0665" y="4043362"/>
            <a:ext cx="2559843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Open-source standard for web platforms and cloud apps.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7494" y="3810000"/>
            <a:ext cx="268783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MS SQL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1490" y="4133850"/>
            <a:ext cx="255984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Integrated solution for corporate Windows networks.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8319" y="3586162"/>
            <a:ext cx="268783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2315" y="3910012"/>
            <a:ext cx="2559843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Advanced open-source engine supporting complex data types.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10250" y="4597598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975" y="2222301"/>
            <a:ext cx="40005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1600" y="2908101"/>
            <a:ext cx="10388798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Inter"/>
              </a:rPr>
              <a:t>Mastering Database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622476"/>
            <a:ext cx="80962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The core pillar for modern software engineering, data analytics, and distributed system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